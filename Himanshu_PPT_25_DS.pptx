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6" r:id="rId10"/>
    <p:sldId id="262" r:id="rId11"/>
    <p:sldId id="263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345E4A-326F-4A36-AD91-9A61D3FA91C0}" type="doc">
      <dgm:prSet loTypeId="urn:microsoft.com/office/officeart/2005/8/layout/vList2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IN"/>
        </a:p>
      </dgm:t>
    </dgm:pt>
    <dgm:pt modelId="{5FC9B9E9-E7A9-4680-BE40-EF5916A941A2}">
      <dgm:prSet/>
      <dgm:spPr/>
      <dgm:t>
        <a:bodyPr/>
        <a:lstStyle/>
        <a:p>
          <a:r>
            <a:rPr lang="en-IN" b="1" i="0" baseline="0" dirty="0"/>
            <a:t>About the Dataset:</a:t>
          </a:r>
          <a:endParaRPr lang="en-IN" i="0" dirty="0"/>
        </a:p>
      </dgm:t>
    </dgm:pt>
    <dgm:pt modelId="{52B35D0E-B03C-4A95-8FF3-6FAFC017BCD9}" type="parTrans" cxnId="{A84465E9-FBAB-44F9-ACB7-D6F7D35CE48E}">
      <dgm:prSet/>
      <dgm:spPr/>
      <dgm:t>
        <a:bodyPr/>
        <a:lstStyle/>
        <a:p>
          <a:endParaRPr lang="en-IN"/>
        </a:p>
      </dgm:t>
    </dgm:pt>
    <dgm:pt modelId="{92A47378-ED30-46B5-9798-0FB2844EA70F}" type="sibTrans" cxnId="{A84465E9-FBAB-44F9-ACB7-D6F7D35CE48E}">
      <dgm:prSet/>
      <dgm:spPr/>
      <dgm:t>
        <a:bodyPr/>
        <a:lstStyle/>
        <a:p>
          <a:endParaRPr lang="en-IN"/>
        </a:p>
      </dgm:t>
    </dgm:pt>
    <dgm:pt modelId="{13B3A52F-E569-432A-9A8F-0C1CC837E2D4}" type="pres">
      <dgm:prSet presAssocID="{36345E4A-326F-4A36-AD91-9A61D3FA91C0}" presName="linear" presStyleCnt="0">
        <dgm:presLayoutVars>
          <dgm:animLvl val="lvl"/>
          <dgm:resizeHandles val="exact"/>
        </dgm:presLayoutVars>
      </dgm:prSet>
      <dgm:spPr/>
    </dgm:pt>
    <dgm:pt modelId="{DF6F040B-5475-4B54-87D1-5B792250EE8C}" type="pres">
      <dgm:prSet presAssocID="{5FC9B9E9-E7A9-4680-BE40-EF5916A941A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8770422-E12B-47CA-A850-5BE5CA7D3FD7}" type="presOf" srcId="{5FC9B9E9-E7A9-4680-BE40-EF5916A941A2}" destId="{DF6F040B-5475-4B54-87D1-5B792250EE8C}" srcOrd="0" destOrd="0" presId="urn:microsoft.com/office/officeart/2005/8/layout/vList2"/>
    <dgm:cxn modelId="{D466B340-45B6-4598-BA5E-08B9B25F0278}" type="presOf" srcId="{36345E4A-326F-4A36-AD91-9A61D3FA91C0}" destId="{13B3A52F-E569-432A-9A8F-0C1CC837E2D4}" srcOrd="0" destOrd="0" presId="urn:microsoft.com/office/officeart/2005/8/layout/vList2"/>
    <dgm:cxn modelId="{A84465E9-FBAB-44F9-ACB7-D6F7D35CE48E}" srcId="{36345E4A-326F-4A36-AD91-9A61D3FA91C0}" destId="{5FC9B9E9-E7A9-4680-BE40-EF5916A941A2}" srcOrd="0" destOrd="0" parTransId="{52B35D0E-B03C-4A95-8FF3-6FAFC017BCD9}" sibTransId="{92A47378-ED30-46B5-9798-0FB2844EA70F}"/>
    <dgm:cxn modelId="{6C6EDBEE-99AF-47CC-BB3A-33AB5566C0BA}" type="presParOf" srcId="{13B3A52F-E569-432A-9A8F-0C1CC837E2D4}" destId="{DF6F040B-5475-4B54-87D1-5B792250EE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F040B-5475-4B54-87D1-5B792250EE8C}">
      <dsp:nvSpPr>
        <dsp:cNvPr id="0" name=""/>
        <dsp:cNvSpPr/>
      </dsp:nvSpPr>
      <dsp:spPr>
        <a:xfrm>
          <a:off x="0" y="2002"/>
          <a:ext cx="5259554" cy="767520"/>
        </a:xfrm>
        <a:prstGeom prst="round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i="0" kern="1200" baseline="0" dirty="0"/>
            <a:t>About the Dataset:</a:t>
          </a:r>
          <a:endParaRPr lang="en-IN" sz="3200" i="0" kern="1200" dirty="0"/>
        </a:p>
      </dsp:txBody>
      <dsp:txXfrm>
        <a:off x="37467" y="39469"/>
        <a:ext cx="5184620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29B3B-DBD6-4928-9BA4-3EA695337867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8CF3F-0D5D-4B7B-8716-EE2027F7D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2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8CF3F-0D5D-4B7B-8716-EE2027F7D5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10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7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3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4A7AD-D95B-9332-4011-40AF66275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423" y="3766457"/>
            <a:ext cx="10909073" cy="165462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/>
              <a:t>DATA SCIENCE</a:t>
            </a:r>
            <a:br>
              <a:rPr lang="en-US" sz="6000" dirty="0"/>
            </a:br>
            <a:r>
              <a:rPr lang="en-US" sz="6000" dirty="0"/>
              <a:t>CA3 : MINI – PROJECT</a:t>
            </a:r>
            <a:br>
              <a:rPr lang="en-US" sz="6000" dirty="0"/>
            </a:br>
            <a:r>
              <a:rPr lang="en-US" sz="6000" dirty="0"/>
              <a:t>(PPT)</a:t>
            </a:r>
            <a:br>
              <a:rPr lang="en-US" sz="6000" dirty="0"/>
            </a:br>
            <a:r>
              <a:rPr lang="en-US" sz="6000" dirty="0"/>
              <a:t>Guided By:- Dr. Piyush Chauhan</a:t>
            </a:r>
          </a:p>
        </p:txBody>
      </p:sp>
      <p:pic>
        <p:nvPicPr>
          <p:cNvPr id="4" name="Picture 3" descr="A red logo with a globe and text&#10;&#10;AI-generated content may be incorrect.">
            <a:extLst>
              <a:ext uri="{FF2B5EF4-FFF2-40B4-BE49-F238E27FC236}">
                <a16:creationId xmlns:a16="http://schemas.microsoft.com/office/drawing/2014/main" id="{3E3F0DE8-E689-12D9-7DD8-40BE2F822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41" y="236209"/>
            <a:ext cx="10284036" cy="195396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Graphic 4" descr="A lightbulb">
            <a:extLst>
              <a:ext uri="{FF2B5EF4-FFF2-40B4-BE49-F238E27FC236}">
                <a16:creationId xmlns:a16="http://schemas.microsoft.com/office/drawing/2014/main" id="{6E0D9184-D53F-189C-0207-9F9BEC636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6655" y="-90171"/>
            <a:ext cx="855345" cy="85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1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2DFBA-CF16-F003-F685-1DF5BEA701E4}"/>
              </a:ext>
            </a:extLst>
          </p:cNvPr>
          <p:cNvSpPr txBox="1"/>
          <p:nvPr/>
        </p:nvSpPr>
        <p:spPr>
          <a:xfrm>
            <a:off x="8108524" y="457200"/>
            <a:ext cx="3401961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3600" b="1" i="0" u="none" strike="noStrike" cap="none" spc="-50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A Comprehensive Analysis of Indian Assembly Electoral Dynamics</a:t>
            </a:r>
            <a:endParaRPr lang="en-US" sz="36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hand holding a stick&#10;&#10;AI-generated content may be incorrect.">
            <a:extLst>
              <a:ext uri="{FF2B5EF4-FFF2-40B4-BE49-F238E27FC236}">
                <a16:creationId xmlns:a16="http://schemas.microsoft.com/office/drawing/2014/main" id="{9507D6DB-954F-FC95-3121-CDC6E538C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1231739"/>
            <a:ext cx="6912217" cy="387084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6F2AE4-A0D6-36ED-C58F-3D4E0B1E1FD8}"/>
              </a:ext>
            </a:extLst>
          </p:cNvPr>
          <p:cNvSpPr txBox="1"/>
          <p:nvPr/>
        </p:nvSpPr>
        <p:spPr>
          <a:xfrm>
            <a:off x="8274641" y="4607452"/>
            <a:ext cx="2832603" cy="146281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spc="-50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By: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spc="-50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Name: Himanshu Sayankar</a:t>
            </a:r>
            <a:br>
              <a:rPr kumimoji="0" lang="en-US" altLang="en-US" sz="2400" b="1" i="0" u="none" strike="noStrike" cap="none" spc="-50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</a:br>
            <a:r>
              <a:rPr kumimoji="0" lang="en-US" altLang="en-US" sz="2400" b="1" i="0" u="none" strike="noStrike" cap="none" spc="-50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PRN: 22070521025</a:t>
            </a:r>
            <a:endParaRPr lang="en-US" sz="24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Graphic 8" descr="A lightbulb">
            <a:extLst>
              <a:ext uri="{FF2B5EF4-FFF2-40B4-BE49-F238E27FC236}">
                <a16:creationId xmlns:a16="http://schemas.microsoft.com/office/drawing/2014/main" id="{745A3B7E-730F-9C7E-EB02-B81E7A61B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6655" y="-90171"/>
            <a:ext cx="855345" cy="855345"/>
          </a:xfrm>
          <a:prstGeom prst="rect">
            <a:avLst/>
          </a:prstGeom>
        </p:spPr>
      </p:pic>
      <p:pic>
        <p:nvPicPr>
          <p:cNvPr id="13" name="Graphic 12" descr="Research with solid fill">
            <a:extLst>
              <a:ext uri="{FF2B5EF4-FFF2-40B4-BE49-F238E27FC236}">
                <a16:creationId xmlns:a16="http://schemas.microsoft.com/office/drawing/2014/main" id="{CA408701-AE90-B03F-DB82-8DCE6B686A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6799" y="1586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12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0B6063E-9502-58E4-9392-A13332AC77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6659845"/>
              </p:ext>
            </p:extLst>
          </p:nvPr>
        </p:nvGraphicFramePr>
        <p:xfrm>
          <a:off x="304800" y="234315"/>
          <a:ext cx="5259554" cy="771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0CE399C-DD9E-EDAA-CF4E-60390B7A0307}"/>
              </a:ext>
            </a:extLst>
          </p:cNvPr>
          <p:cNvSpPr txBox="1"/>
          <p:nvPr/>
        </p:nvSpPr>
        <p:spPr>
          <a:xfrm>
            <a:off x="172720" y="1405374"/>
            <a:ext cx="60960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lphaUcPeriod"/>
            </a:pPr>
            <a:r>
              <a:rPr lang="en-US" sz="2200" b="1" i="0" baseline="0" dirty="0"/>
              <a:t>Source: </a:t>
            </a:r>
            <a:r>
              <a:rPr lang="en-US" sz="2200" dirty="0"/>
              <a:t>India Data Portal (CSV Format)</a:t>
            </a:r>
          </a:p>
          <a:p>
            <a:pPr marL="342900" lvl="0" indent="-342900">
              <a:buFont typeface="+mj-lt"/>
              <a:buAutoNum type="alphaUcPeriod"/>
            </a:pPr>
            <a:r>
              <a:rPr lang="en-US" sz="2200" b="1" dirty="0"/>
              <a:t>Rows:</a:t>
            </a:r>
            <a:r>
              <a:rPr lang="en-US" sz="2200" dirty="0"/>
              <a:t> 115,854 (This is the final count used for modeling after dropping rows with no outcome)</a:t>
            </a:r>
          </a:p>
          <a:p>
            <a:pPr marL="342900" lvl="0" indent="-342900">
              <a:buFont typeface="+mj-lt"/>
              <a:buAutoNum type="alphaUcPeriod"/>
            </a:pPr>
            <a:r>
              <a:rPr lang="en-US" sz="2200" b="1" dirty="0"/>
              <a:t>Columns: </a:t>
            </a:r>
            <a:r>
              <a:rPr lang="en-US" sz="2200" dirty="0"/>
              <a:t>27</a:t>
            </a:r>
          </a:p>
          <a:p>
            <a:pPr marL="342900" lvl="0" indent="-342900">
              <a:buFont typeface="+mj-lt"/>
              <a:buAutoNum type="alphaUcPeriod"/>
            </a:pPr>
            <a:r>
              <a:rPr lang="en-US" sz="2200" b="1" dirty="0"/>
              <a:t>Key attributes:</a:t>
            </a:r>
            <a:r>
              <a:rPr lang="en-US" sz="2200" dirty="0"/>
              <a:t> year, </a:t>
            </a:r>
            <a:r>
              <a:rPr lang="en-US" sz="2200" dirty="0" err="1"/>
              <a:t>state_name</a:t>
            </a:r>
            <a:r>
              <a:rPr lang="en-US" sz="2200" dirty="0"/>
              <a:t>, party, age, sex, </a:t>
            </a:r>
            <a:r>
              <a:rPr lang="en-US" sz="2200" dirty="0" err="1"/>
              <a:t>ac_type</a:t>
            </a:r>
            <a:r>
              <a:rPr lang="en-US" sz="2200" dirty="0"/>
              <a:t>, </a:t>
            </a:r>
            <a:r>
              <a:rPr lang="en-US" sz="2200" dirty="0" err="1"/>
              <a:t>candidate_type</a:t>
            </a:r>
            <a:r>
              <a:rPr lang="en-US" sz="2200" dirty="0"/>
              <a:t>, </a:t>
            </a:r>
            <a:r>
              <a:rPr lang="en-US" sz="2200" dirty="0" err="1"/>
              <a:t>total_electors</a:t>
            </a:r>
            <a:r>
              <a:rPr lang="en-US" sz="2200" dirty="0"/>
              <a:t>, </a:t>
            </a:r>
            <a:r>
              <a:rPr lang="en-US" sz="2200" dirty="0" err="1"/>
              <a:t>ac_total_candidates</a:t>
            </a:r>
            <a:r>
              <a:rPr lang="en-US" sz="2200" dirty="0"/>
              <a:t>, </a:t>
            </a:r>
            <a:r>
              <a:rPr lang="en-US" sz="2200" dirty="0" err="1"/>
              <a:t>turnout_percentage</a:t>
            </a:r>
            <a:r>
              <a:rPr lang="en-US" sz="2200" dirty="0"/>
              <a:t>, and the target variable result.</a:t>
            </a:r>
          </a:p>
          <a:p>
            <a:pPr marL="342900" lvl="0" indent="-342900">
              <a:buFont typeface="+mj-lt"/>
              <a:buAutoNum type="alphaUcPeriod"/>
            </a:pPr>
            <a:r>
              <a:rPr lang="en-US" sz="2200" b="1" dirty="0"/>
              <a:t>Data Type:</a:t>
            </a:r>
            <a:r>
              <a:rPr lang="en-US" sz="2200" dirty="0"/>
              <a:t> Contains both </a:t>
            </a:r>
            <a:r>
              <a:rPr lang="en-US" sz="2200" b="1" dirty="0"/>
              <a:t>numerical</a:t>
            </a:r>
            <a:r>
              <a:rPr lang="en-US" sz="2200" dirty="0"/>
              <a:t> (like age, year, </a:t>
            </a:r>
            <a:r>
              <a:rPr lang="en-US" sz="2200" dirty="0" err="1"/>
              <a:t>total_electors</a:t>
            </a:r>
            <a:r>
              <a:rPr lang="en-US" sz="2200" dirty="0"/>
              <a:t>) and </a:t>
            </a:r>
            <a:r>
              <a:rPr lang="en-US" sz="2200" b="1" dirty="0"/>
              <a:t>categorical</a:t>
            </a:r>
            <a:r>
              <a:rPr lang="en-US" sz="2200" dirty="0"/>
              <a:t> (like </a:t>
            </a:r>
            <a:r>
              <a:rPr lang="en-US" sz="2200" dirty="0" err="1"/>
              <a:t>state_name</a:t>
            </a:r>
            <a:r>
              <a:rPr lang="en-US" sz="2200" dirty="0"/>
              <a:t>, party, sex) data.</a:t>
            </a:r>
            <a:endParaRPr lang="en-IN" sz="2200" dirty="0"/>
          </a:p>
        </p:txBody>
      </p:sp>
      <p:pic>
        <p:nvPicPr>
          <p:cNvPr id="11" name="Picture 10" descr="A close-up of a data&#10;&#10;AI-generated content may be incorrect.">
            <a:extLst>
              <a:ext uri="{FF2B5EF4-FFF2-40B4-BE49-F238E27FC236}">
                <a16:creationId xmlns:a16="http://schemas.microsoft.com/office/drawing/2014/main" id="{774F8450-1921-3C90-E920-21B5A79839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620077"/>
            <a:ext cx="5936766" cy="4975106"/>
          </a:xfrm>
          <a:prstGeom prst="rect">
            <a:avLst/>
          </a:prstGeom>
        </p:spPr>
      </p:pic>
      <p:pic>
        <p:nvPicPr>
          <p:cNvPr id="13" name="Graphic 12" descr="A lightbulb">
            <a:extLst>
              <a:ext uri="{FF2B5EF4-FFF2-40B4-BE49-F238E27FC236}">
                <a16:creationId xmlns:a16="http://schemas.microsoft.com/office/drawing/2014/main" id="{FD6F936C-973D-7FFC-4045-C775213D51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36655" y="-90171"/>
            <a:ext cx="855345" cy="85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896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FE3E91-5DFB-C61C-AC2C-0131A3155993}"/>
              </a:ext>
            </a:extLst>
          </p:cNvPr>
          <p:cNvSpPr txBox="1"/>
          <p:nvPr/>
        </p:nvSpPr>
        <p:spPr>
          <a:xfrm>
            <a:off x="8123421" y="-223075"/>
            <a:ext cx="3932556" cy="45821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The Data Preprocessing Performed on the Dataset</a:t>
            </a:r>
            <a:endParaRPr lang="en-US" sz="48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FE057D-1403-B92B-1E35-C9B81D9E3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8334" y="64009"/>
            <a:ext cx="7889928" cy="633555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B6D994-85EB-79BF-DA27-733345CB1847}"/>
              </a:ext>
            </a:extLst>
          </p:cNvPr>
          <p:cNvSpPr/>
          <p:nvPr/>
        </p:nvSpPr>
        <p:spPr>
          <a:xfrm>
            <a:off x="6350000" y="5842000"/>
            <a:ext cx="1513840" cy="425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A lightbulb">
            <a:extLst>
              <a:ext uri="{FF2B5EF4-FFF2-40B4-BE49-F238E27FC236}">
                <a16:creationId xmlns:a16="http://schemas.microsoft.com/office/drawing/2014/main" id="{6C471007-E241-A556-E6FC-9F613ABFCD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36655" y="-90171"/>
            <a:ext cx="855345" cy="855345"/>
          </a:xfrm>
          <a:prstGeom prst="rect">
            <a:avLst/>
          </a:prstGeom>
        </p:spPr>
      </p:pic>
      <p:pic>
        <p:nvPicPr>
          <p:cNvPr id="9" name="Graphic 8" descr="Research with solid fill">
            <a:extLst>
              <a:ext uri="{FF2B5EF4-FFF2-40B4-BE49-F238E27FC236}">
                <a16:creationId xmlns:a16="http://schemas.microsoft.com/office/drawing/2014/main" id="{A617FE0E-8442-AA67-A1B3-75874C67F1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4182" y="6648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69F569-3F3A-6DB5-81DC-D7E9BAE8BBD6}"/>
              </a:ext>
            </a:extLst>
          </p:cNvPr>
          <p:cNvSpPr txBox="1"/>
          <p:nvPr/>
        </p:nvSpPr>
        <p:spPr>
          <a:xfrm>
            <a:off x="6730000" y="639097"/>
            <a:ext cx="4813072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spc="-5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+mj-lt"/>
                <a:ea typeface="+mj-ea"/>
                <a:cs typeface="+mj-cs"/>
              </a:rPr>
              <a:t>Univariate Analysis</a:t>
            </a:r>
          </a:p>
        </p:txBody>
      </p:sp>
      <p:pic>
        <p:nvPicPr>
          <p:cNvPr id="4" name="Picture 3" descr="Pipette adding DNA sample to a petri dish">
            <a:extLst>
              <a:ext uri="{FF2B5EF4-FFF2-40B4-BE49-F238E27FC236}">
                <a16:creationId xmlns:a16="http://schemas.microsoft.com/office/drawing/2014/main" id="{67BC4C98-0CD3-8AD7-5915-74C5606F1B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5" r="28458"/>
          <a:stretch>
            <a:fillRect/>
          </a:stretch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A lightbulb">
            <a:extLst>
              <a:ext uri="{FF2B5EF4-FFF2-40B4-BE49-F238E27FC236}">
                <a16:creationId xmlns:a16="http://schemas.microsoft.com/office/drawing/2014/main" id="{635B2889-B3E2-6070-0A36-F2F65E34B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6655" y="-90171"/>
            <a:ext cx="855345" cy="855345"/>
          </a:xfrm>
          <a:prstGeom prst="rect">
            <a:avLst/>
          </a:prstGeom>
        </p:spPr>
      </p:pic>
      <p:pic>
        <p:nvPicPr>
          <p:cNvPr id="11" name="Graphic 10" descr="Man holding sign">
            <a:extLst>
              <a:ext uri="{FF2B5EF4-FFF2-40B4-BE49-F238E27FC236}">
                <a16:creationId xmlns:a16="http://schemas.microsoft.com/office/drawing/2014/main" id="{0E08D97F-D45C-90A2-31C1-B35FDDAB6B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0000" y="4361689"/>
            <a:ext cx="1059478" cy="221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23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487FAA24-BF53-3462-F792-A8BA80A46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4" y="132081"/>
            <a:ext cx="5351732" cy="3216786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9" name="Picture 8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D89ED316-8558-06EB-FCE8-6D3014328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34" y="3628765"/>
            <a:ext cx="5443879" cy="309715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2" name="Picture 11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6520F74-ADCA-C46B-4580-7F4B976E5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263" y="132081"/>
            <a:ext cx="6012397" cy="3216785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2C7D59-29DC-CE1F-2751-146C3D98EE66}"/>
              </a:ext>
            </a:extLst>
          </p:cNvPr>
          <p:cNvCxnSpPr>
            <a:cxnSpLocks/>
          </p:cNvCxnSpPr>
          <p:nvPr/>
        </p:nvCxnSpPr>
        <p:spPr>
          <a:xfrm>
            <a:off x="5882640" y="0"/>
            <a:ext cx="0" cy="6339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graph of the number of candidates&#10;&#10;AI-generated content may be incorrect.">
            <a:extLst>
              <a:ext uri="{FF2B5EF4-FFF2-40B4-BE49-F238E27FC236}">
                <a16:creationId xmlns:a16="http://schemas.microsoft.com/office/drawing/2014/main" id="{770DF075-2345-BD76-32D7-836A215414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806" y="3548631"/>
            <a:ext cx="5920854" cy="3177283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FF1F2C-73E7-C7E0-B362-B6573C84021F}"/>
              </a:ext>
            </a:extLst>
          </p:cNvPr>
          <p:cNvCxnSpPr/>
          <p:nvPr/>
        </p:nvCxnSpPr>
        <p:spPr>
          <a:xfrm>
            <a:off x="0" y="3488815"/>
            <a:ext cx="121652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940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D62FEB-37A1-27D3-C9F0-75EB6BEFB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34352A-D384-BDE7-A618-11870041F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C7B59B-C517-9618-DB86-9CBC9156D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DA3702-A4BF-B7ED-A4CF-6554D1459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6A607A7-24EF-EE11-72BB-929AB1AE5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36DB99-96B3-3A4D-DA5D-C1E07451CEC4}"/>
              </a:ext>
            </a:extLst>
          </p:cNvPr>
          <p:cNvSpPr txBox="1"/>
          <p:nvPr/>
        </p:nvSpPr>
        <p:spPr>
          <a:xfrm>
            <a:off x="6730000" y="639097"/>
            <a:ext cx="4813072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spc="-5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+mj-lt"/>
                <a:ea typeface="+mj-ea"/>
                <a:cs typeface="+mj-cs"/>
              </a:rPr>
              <a:t>Bivariate Analysis</a:t>
            </a:r>
          </a:p>
        </p:txBody>
      </p:sp>
      <p:pic>
        <p:nvPicPr>
          <p:cNvPr id="4" name="Picture 3" descr="Pipette adding DNA sample to a petri dish">
            <a:extLst>
              <a:ext uri="{FF2B5EF4-FFF2-40B4-BE49-F238E27FC236}">
                <a16:creationId xmlns:a16="http://schemas.microsoft.com/office/drawing/2014/main" id="{A518AE99-4C21-CBB0-22CD-EBF6ABF43D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5" r="28458"/>
          <a:stretch>
            <a:fillRect/>
          </a:stretch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58AFD0-007D-8A4B-10CF-3AAC503BE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A lightbulb">
            <a:extLst>
              <a:ext uri="{FF2B5EF4-FFF2-40B4-BE49-F238E27FC236}">
                <a16:creationId xmlns:a16="http://schemas.microsoft.com/office/drawing/2014/main" id="{2BAB1DD7-97C2-A2DD-0B6E-F79A6F235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6655" y="-90171"/>
            <a:ext cx="855345" cy="855345"/>
          </a:xfrm>
          <a:prstGeom prst="rect">
            <a:avLst/>
          </a:prstGeom>
        </p:spPr>
      </p:pic>
      <p:pic>
        <p:nvPicPr>
          <p:cNvPr id="6" name="Graphic 5" descr="Man holding sign">
            <a:extLst>
              <a:ext uri="{FF2B5EF4-FFF2-40B4-BE49-F238E27FC236}">
                <a16:creationId xmlns:a16="http://schemas.microsoft.com/office/drawing/2014/main" id="{B3CB1CFC-B01E-4047-FE55-7EC9168300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0000" y="4361689"/>
            <a:ext cx="1059478" cy="221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51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8E9F2-5ABF-E5E9-43CE-9035B4D4E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351AC87-A602-D7F6-12A7-E724B4073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23390" y="356757"/>
            <a:ext cx="6197381" cy="540991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DE2364-A2E8-F864-C73C-883046BFD481}"/>
              </a:ext>
            </a:extLst>
          </p:cNvPr>
          <p:cNvCxnSpPr>
            <a:cxnSpLocks/>
          </p:cNvCxnSpPr>
          <p:nvPr/>
        </p:nvCxnSpPr>
        <p:spPr>
          <a:xfrm>
            <a:off x="585216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95439A11-5426-E743-E5FA-617B16129C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1225" y="1702027"/>
            <a:ext cx="2897824" cy="2719374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5" name="Picture 4" descr="A map of india with different shades of brown&#10;&#10;AI-generated content may be incorrect.">
            <a:extLst>
              <a:ext uri="{FF2B5EF4-FFF2-40B4-BE49-F238E27FC236}">
                <a16:creationId xmlns:a16="http://schemas.microsoft.com/office/drawing/2014/main" id="{A02F77E4-7DAE-6DEB-13E0-F133A8CC1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16" y="356757"/>
            <a:ext cx="5579315" cy="54099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64C1DD-A86F-FD41-810B-44675E8602F6}"/>
              </a:ext>
            </a:extLst>
          </p:cNvPr>
          <p:cNvSpPr txBox="1"/>
          <p:nvPr/>
        </p:nvSpPr>
        <p:spPr>
          <a:xfrm>
            <a:off x="2536414" y="1178807"/>
            <a:ext cx="2624866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2800" b="1" dirty="0">
                <a:ln/>
                <a:solidFill>
                  <a:schemeClr val="accent3"/>
                </a:solidFill>
              </a:rPr>
              <a:t>From 2009-2021</a:t>
            </a:r>
          </a:p>
        </p:txBody>
      </p:sp>
    </p:spTree>
    <p:extLst>
      <p:ext uri="{BB962C8B-B14F-4D97-AF65-F5344CB8AC3E}">
        <p14:creationId xmlns:p14="http://schemas.microsoft.com/office/powerpoint/2010/main" val="1832099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45FC0-424C-FFA7-F0F5-FA8933A5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3EC6CE-CD05-B8B5-0E55-FBC266E2E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61ED1A-14C5-D209-84A7-96746E6B6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5750BF-E516-E82C-335D-E53F6480F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5DE452C-747E-FA42-6CB4-E652C4993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C97D66-05A0-4815-E3A9-26947FAF4D46}"/>
              </a:ext>
            </a:extLst>
          </p:cNvPr>
          <p:cNvSpPr txBox="1"/>
          <p:nvPr/>
        </p:nvSpPr>
        <p:spPr>
          <a:xfrm>
            <a:off x="6730000" y="639097"/>
            <a:ext cx="4813072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spc="-5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+mj-lt"/>
                <a:ea typeface="+mj-ea"/>
                <a:cs typeface="+mj-cs"/>
              </a:rPr>
              <a:t>Multivariate Analysis</a:t>
            </a:r>
          </a:p>
        </p:txBody>
      </p:sp>
      <p:pic>
        <p:nvPicPr>
          <p:cNvPr id="4" name="Picture 3" descr="Pipette adding DNA sample to a petri dish">
            <a:extLst>
              <a:ext uri="{FF2B5EF4-FFF2-40B4-BE49-F238E27FC236}">
                <a16:creationId xmlns:a16="http://schemas.microsoft.com/office/drawing/2014/main" id="{5F1EF857-F038-92F6-D5DB-CBBF8A4AC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5" r="28458"/>
          <a:stretch>
            <a:fillRect/>
          </a:stretch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97C052-5E58-D639-4A2E-119C2601B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A lightbulb">
            <a:extLst>
              <a:ext uri="{FF2B5EF4-FFF2-40B4-BE49-F238E27FC236}">
                <a16:creationId xmlns:a16="http://schemas.microsoft.com/office/drawing/2014/main" id="{8401A220-D0E4-381C-420F-FEB282F1B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6655" y="-90171"/>
            <a:ext cx="855345" cy="855345"/>
          </a:xfrm>
          <a:prstGeom prst="rect">
            <a:avLst/>
          </a:prstGeom>
        </p:spPr>
      </p:pic>
      <p:pic>
        <p:nvPicPr>
          <p:cNvPr id="6" name="Graphic 5" descr="Man holding sign">
            <a:extLst>
              <a:ext uri="{FF2B5EF4-FFF2-40B4-BE49-F238E27FC236}">
                <a16:creationId xmlns:a16="http://schemas.microsoft.com/office/drawing/2014/main" id="{DD1CA399-FD54-5B83-86B5-BD15389AF6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0000" y="4361689"/>
            <a:ext cx="1059478" cy="221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8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3E54E-1C60-ED65-C00F-F90248B43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6593DBC-4A7D-145C-733E-63BB8FF24E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67821" y="645445"/>
            <a:ext cx="6197381" cy="540991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30BB8B-163E-5B3E-C068-DE4BCA1953A4}"/>
              </a:ext>
            </a:extLst>
          </p:cNvPr>
          <p:cNvCxnSpPr>
            <a:cxnSpLocks/>
          </p:cNvCxnSpPr>
          <p:nvPr/>
        </p:nvCxnSpPr>
        <p:spPr>
          <a:xfrm>
            <a:off x="5852160" y="0"/>
            <a:ext cx="0" cy="629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AC6CC31-1B4F-48BB-E9FB-198FD8D421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337" y="645446"/>
            <a:ext cx="5618163" cy="54099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B48A86-9311-43E7-1F17-FE702FF9F06C}"/>
              </a:ext>
            </a:extLst>
          </p:cNvPr>
          <p:cNvSpPr txBox="1"/>
          <p:nvPr/>
        </p:nvSpPr>
        <p:spPr>
          <a:xfrm>
            <a:off x="1827228" y="1260701"/>
            <a:ext cx="2644733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Seat Retention vs. Gains for Top Parties in Maharashtra</a:t>
            </a:r>
          </a:p>
        </p:txBody>
      </p:sp>
      <p:pic>
        <p:nvPicPr>
          <p:cNvPr id="10" name="Graphic 9" descr="A lightbulb">
            <a:extLst>
              <a:ext uri="{FF2B5EF4-FFF2-40B4-BE49-F238E27FC236}">
                <a16:creationId xmlns:a16="http://schemas.microsoft.com/office/drawing/2014/main" id="{A38B3270-6A9D-8115-4CEE-B838BA2101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28194" y="-91563"/>
            <a:ext cx="737008" cy="73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73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1403F-C40C-95CF-97C9-6607C784D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5356E04-C329-ECC2-2592-C5AB030F97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482886"/>
            <a:ext cx="5865149" cy="540991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5A84D6F-2624-B531-EC19-0B9C7AF66BE8}"/>
              </a:ext>
            </a:extLst>
          </p:cNvPr>
          <p:cNvCxnSpPr>
            <a:cxnSpLocks/>
          </p:cNvCxnSpPr>
          <p:nvPr/>
        </p:nvCxnSpPr>
        <p:spPr>
          <a:xfrm>
            <a:off x="5933440" y="0"/>
            <a:ext cx="0" cy="6217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0849AE5-6454-21F3-C1AC-D059ACFAE1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7675" y="877640"/>
            <a:ext cx="5705517" cy="44626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8820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294E11-7558-D282-9F28-7F4D69E3ED85}"/>
              </a:ext>
            </a:extLst>
          </p:cNvPr>
          <p:cNvSpPr txBox="1"/>
          <p:nvPr/>
        </p:nvSpPr>
        <p:spPr>
          <a:xfrm>
            <a:off x="6730000" y="639097"/>
            <a:ext cx="4813072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spc="-5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+mj-lt"/>
                <a:ea typeface="+mj-ea"/>
                <a:cs typeface="+mj-cs"/>
              </a:rPr>
              <a:t>Logistic </a:t>
            </a:r>
            <a:r>
              <a:rPr lang="en-US" sz="8000" b="1" spc="-5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+mj-lt"/>
                <a:ea typeface="+mj-ea"/>
                <a:cs typeface="+mj-cs"/>
              </a:rPr>
              <a:t>Regession</a:t>
            </a:r>
            <a:endParaRPr lang="en-US" sz="8000" b="1" spc="-50" dirty="0">
              <a:ln w="9525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4BBDA8-9FFA-03F2-6907-4B8D5F093A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584" y="756325"/>
            <a:ext cx="5702416" cy="5120791"/>
          </a:xfrm>
          <a:prstGeom prst="rect">
            <a:avLst/>
          </a:prstGeom>
          <a:ln>
            <a:solidFill>
              <a:schemeClr val="tx2"/>
            </a:solidFill>
          </a:ln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A lightbulb">
            <a:extLst>
              <a:ext uri="{FF2B5EF4-FFF2-40B4-BE49-F238E27FC236}">
                <a16:creationId xmlns:a16="http://schemas.microsoft.com/office/drawing/2014/main" id="{4FE57F54-BEE5-EE5C-7526-F5F6C03B2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6655" y="-90171"/>
            <a:ext cx="855345" cy="855345"/>
          </a:xfrm>
          <a:prstGeom prst="rect">
            <a:avLst/>
          </a:prstGeom>
        </p:spPr>
      </p:pic>
      <p:pic>
        <p:nvPicPr>
          <p:cNvPr id="10" name="Graphic 9" descr="Man holding sign">
            <a:extLst>
              <a:ext uri="{FF2B5EF4-FFF2-40B4-BE49-F238E27FC236}">
                <a16:creationId xmlns:a16="http://schemas.microsoft.com/office/drawing/2014/main" id="{423504CC-1AEB-DEEC-7E38-AB94EC1CA9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6744" y="523684"/>
            <a:ext cx="689823" cy="144069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FA3F3B0-F124-3E21-B007-C425817BAD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5418" y="4307682"/>
            <a:ext cx="5774060" cy="196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384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303E1-E877-4EF3-F082-37CF6F42F8ED}"/>
              </a:ext>
            </a:extLst>
          </p:cNvPr>
          <p:cNvSpPr txBox="1"/>
          <p:nvPr/>
        </p:nvSpPr>
        <p:spPr>
          <a:xfrm>
            <a:off x="6730000" y="639097"/>
            <a:ext cx="4813072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spc="-5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+mj-lt"/>
                <a:ea typeface="+mj-ea"/>
                <a:cs typeface="+mj-cs"/>
              </a:rPr>
              <a:t>Steps used to perform the analysis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E9B0BF7-4782-9344-48B8-30B9D9108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755" y="393137"/>
            <a:ext cx="6089303" cy="590793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Graphic 4" descr="A lightbulb">
            <a:extLst>
              <a:ext uri="{FF2B5EF4-FFF2-40B4-BE49-F238E27FC236}">
                <a16:creationId xmlns:a16="http://schemas.microsoft.com/office/drawing/2014/main" id="{8421B83F-2086-2185-2262-6E99ACCC3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36655" y="-90171"/>
            <a:ext cx="855345" cy="855345"/>
          </a:xfrm>
          <a:prstGeom prst="rect">
            <a:avLst/>
          </a:prstGeom>
        </p:spPr>
      </p:pic>
      <p:pic>
        <p:nvPicPr>
          <p:cNvPr id="7" name="Graphic 6" descr="Aspiration with solid fill">
            <a:extLst>
              <a:ext uri="{FF2B5EF4-FFF2-40B4-BE49-F238E27FC236}">
                <a16:creationId xmlns:a16="http://schemas.microsoft.com/office/drawing/2014/main" id="{371A2590-EE62-DECD-3332-A616D20ABA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728" y="6390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573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F9120C-2A2B-29B6-B627-8BEACCB50041}"/>
              </a:ext>
            </a:extLst>
          </p:cNvPr>
          <p:cNvSpPr txBox="1"/>
          <p:nvPr/>
        </p:nvSpPr>
        <p:spPr>
          <a:xfrm>
            <a:off x="391160" y="2834149"/>
            <a:ext cx="11714480" cy="20126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 </a:t>
            </a:r>
            <a:r>
              <a:rPr lang="en-US" sz="4400" b="1" dirty="0"/>
              <a:t>"</a:t>
            </a:r>
            <a:r>
              <a:rPr lang="hi-IN" sz="4400" b="1" dirty="0"/>
              <a:t>चुनाव का </a:t>
            </a:r>
            <a:r>
              <a:rPr lang="en-US" sz="4400" b="1" dirty="0"/>
              <a:t>Analysis</a:t>
            </a:r>
            <a:r>
              <a:rPr lang="hi-IN" sz="4400" b="1" dirty="0"/>
              <a:t> ज़रूरी है, क्योंकि आँकड़ों में ही छिपी है असली जीत की कहानी!"</a:t>
            </a:r>
            <a:endParaRPr lang="hi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9A344-E3E8-F97A-FE6E-948EAE7920D4}"/>
              </a:ext>
            </a:extLst>
          </p:cNvPr>
          <p:cNvSpPr txBox="1"/>
          <p:nvPr/>
        </p:nvSpPr>
        <p:spPr>
          <a:xfrm>
            <a:off x="3944120" y="1004857"/>
            <a:ext cx="4608560" cy="20126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spc="-5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4" name="Graphic 3" descr="A lightbulb">
            <a:extLst>
              <a:ext uri="{FF2B5EF4-FFF2-40B4-BE49-F238E27FC236}">
                <a16:creationId xmlns:a16="http://schemas.microsoft.com/office/drawing/2014/main" id="{648A6EA7-9124-3F85-0F5E-1101AC603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6655" y="-90171"/>
            <a:ext cx="855345" cy="855345"/>
          </a:xfrm>
          <a:prstGeom prst="rect">
            <a:avLst/>
          </a:prstGeom>
        </p:spPr>
      </p:pic>
      <p:pic>
        <p:nvPicPr>
          <p:cNvPr id="6" name="Graphic 5" descr="Bar chart with solid fill">
            <a:extLst>
              <a:ext uri="{FF2B5EF4-FFF2-40B4-BE49-F238E27FC236}">
                <a16:creationId xmlns:a16="http://schemas.microsoft.com/office/drawing/2014/main" id="{09F4A042-5649-AF24-7716-E45533A1CF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05697"/>
            <a:ext cx="914400" cy="914400"/>
          </a:xfrm>
          <a:prstGeom prst="rect">
            <a:avLst/>
          </a:prstGeom>
        </p:spPr>
      </p:pic>
      <p:pic>
        <p:nvPicPr>
          <p:cNvPr id="8" name="Graphic 7" descr="Man wearing a hoodie">
            <a:extLst>
              <a:ext uri="{FF2B5EF4-FFF2-40B4-BE49-F238E27FC236}">
                <a16:creationId xmlns:a16="http://schemas.microsoft.com/office/drawing/2014/main" id="{0D6F3EDB-C6E7-9939-FAD0-9E8D74ECA5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42502" y="1525905"/>
            <a:ext cx="128587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43934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141</TotalTime>
  <Words>202</Words>
  <Application>Microsoft Office PowerPoint</Application>
  <PresentationFormat>Widescreen</PresentationFormat>
  <Paragraphs>21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Retrospect</vt:lpstr>
      <vt:lpstr>DATA SCIENCE CA3 : MINI – PROJECT (PPT) Guided By:- Dr. Piyush Chauhan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 sayankar</dc:creator>
  <cp:lastModifiedBy>himanshu sayankar</cp:lastModifiedBy>
  <cp:revision>2</cp:revision>
  <dcterms:created xsi:type="dcterms:W3CDTF">2025-10-31T16:40:22Z</dcterms:created>
  <dcterms:modified xsi:type="dcterms:W3CDTF">2025-10-31T19:01:30Z</dcterms:modified>
</cp:coreProperties>
</file>